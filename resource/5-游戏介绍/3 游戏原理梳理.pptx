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60"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52" autoAdjust="0"/>
    <p:restoredTop sz="94660"/>
  </p:normalViewPr>
  <p:slideViewPr>
    <p:cSldViewPr snapToGrid="0">
      <p:cViewPr varScale="1">
        <p:scale>
          <a:sx n="151" d="100"/>
          <a:sy n="151" d="100"/>
        </p:scale>
        <p:origin x="16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257775" y="93129"/>
            <a:ext cx="11813575" cy="6129050"/>
          </a:xfrm>
          <a:prstGeom prst="rect">
            <a:avLst/>
          </a:prstGeom>
          <a:solidFill>
            <a:schemeClr val="accent1">
              <a:lumMod val="20000"/>
              <a:lumOff val="80000"/>
            </a:schemeClr>
          </a:solidFill>
        </p:spPr>
        <p:txBody>
          <a:bodyPr wrap="square" rtlCol="0">
            <a:spAutoFit/>
          </a:bodyPr>
          <a:lstStyle/>
          <a:p>
            <a:pPr>
              <a:lnSpc>
                <a:spcPct val="150000"/>
              </a:lnSpc>
            </a:pPr>
            <a:r>
              <a:rPr lang="zh-CN" altLang="en-US" sz="2400" b="1" dirty="0"/>
              <a:t>初始化（跟代码中实现并不是完全一致的，请注意）</a:t>
            </a:r>
            <a:endParaRPr lang="en-US" altLang="zh-CN" sz="2400" b="1" dirty="0"/>
          </a:p>
          <a:p>
            <a:pPr marL="342900" indent="-342900">
              <a:lnSpc>
                <a:spcPct val="150000"/>
              </a:lnSpc>
              <a:buFont typeface="+mj-lt"/>
              <a:buAutoNum type="arabicPeriod"/>
            </a:pPr>
            <a:r>
              <a:rPr lang="zh-CN" altLang="en-US" sz="2400" b="1" dirty="0"/>
              <a:t>服务器启动</a:t>
            </a:r>
            <a:endParaRPr lang="en-US" altLang="zh-CN" sz="2400" b="1" dirty="0"/>
          </a:p>
          <a:p>
            <a:pPr marL="342900" indent="-342900">
              <a:lnSpc>
                <a:spcPct val="150000"/>
              </a:lnSpc>
              <a:buFont typeface="+mj-lt"/>
              <a:buAutoNum type="arabicPeriod"/>
            </a:pPr>
            <a:r>
              <a:rPr lang="zh-CN" altLang="en-US" sz="2400" b="1" dirty="0"/>
              <a:t>客户端</a:t>
            </a:r>
            <a:r>
              <a:rPr lang="en-US" altLang="zh-CN" sz="2400" b="1" dirty="0"/>
              <a:t>1</a:t>
            </a:r>
            <a:r>
              <a:rPr lang="zh-CN" altLang="en-US" sz="2400" b="1" dirty="0"/>
              <a:t>请求连接</a:t>
            </a:r>
            <a:endParaRPr lang="en-US" altLang="zh-CN" sz="2400" b="1" dirty="0"/>
          </a:p>
          <a:p>
            <a:pPr marL="342900" indent="-342900">
              <a:lnSpc>
                <a:spcPct val="150000"/>
              </a:lnSpc>
              <a:buFont typeface="+mj-lt"/>
              <a:buAutoNum type="arabicPeriod"/>
            </a:pPr>
            <a:r>
              <a:rPr lang="zh-CN" altLang="en-US" sz="2400" b="1" dirty="0"/>
              <a:t>服务器接收请求客户端</a:t>
            </a:r>
            <a:r>
              <a:rPr lang="en-US" altLang="zh-CN" sz="2400" b="1" dirty="0"/>
              <a:t>1</a:t>
            </a:r>
            <a:r>
              <a:rPr lang="zh-CN" altLang="en-US" sz="2400" b="1" dirty="0"/>
              <a:t>请求，并且给客户端</a:t>
            </a:r>
            <a:r>
              <a:rPr lang="en-US" altLang="zh-CN" sz="2400" b="1" dirty="0"/>
              <a:t>1</a:t>
            </a:r>
            <a:r>
              <a:rPr lang="zh-CN" altLang="en-US" sz="2400" b="1" dirty="0"/>
              <a:t>分配</a:t>
            </a:r>
            <a:r>
              <a:rPr lang="en-US" altLang="zh-CN" sz="2400" b="1" dirty="0"/>
              <a:t>ID1</a:t>
            </a:r>
          </a:p>
          <a:p>
            <a:pPr marL="342900" indent="-342900">
              <a:lnSpc>
                <a:spcPct val="150000"/>
              </a:lnSpc>
              <a:buFont typeface="+mj-lt"/>
              <a:buAutoNum type="arabicPeriod"/>
            </a:pPr>
            <a:r>
              <a:rPr lang="zh-CN" altLang="en-US" sz="2400" b="1" dirty="0"/>
              <a:t>客户端</a:t>
            </a:r>
            <a:r>
              <a:rPr lang="en-US" altLang="zh-CN" sz="2400" b="1" dirty="0"/>
              <a:t>1</a:t>
            </a:r>
            <a:r>
              <a:rPr lang="zh-CN" altLang="en-US" sz="2400" b="1" dirty="0"/>
              <a:t>记录被分配的</a:t>
            </a:r>
            <a:r>
              <a:rPr lang="en-US" altLang="zh-CN" sz="2400" b="1" dirty="0"/>
              <a:t>ID1</a:t>
            </a:r>
            <a:r>
              <a:rPr lang="zh-CN" altLang="en-US" sz="2400" b="1" dirty="0"/>
              <a:t>以后每次发送数据会带</a:t>
            </a:r>
            <a:r>
              <a:rPr lang="en-US" altLang="zh-CN" sz="2400" b="1" dirty="0"/>
              <a:t>ID1</a:t>
            </a:r>
          </a:p>
          <a:p>
            <a:pPr marL="342900" indent="-342900">
              <a:lnSpc>
                <a:spcPct val="150000"/>
              </a:lnSpc>
              <a:buFont typeface="+mj-lt"/>
              <a:buAutoNum type="arabicPeriod"/>
            </a:pPr>
            <a:r>
              <a:rPr lang="zh-CN" altLang="en-US" sz="2400" b="1" dirty="0"/>
              <a:t>客户端</a:t>
            </a:r>
            <a:r>
              <a:rPr lang="en-US" altLang="zh-CN" sz="2400" b="1" dirty="0"/>
              <a:t>2</a:t>
            </a:r>
            <a:r>
              <a:rPr lang="zh-CN" altLang="en-US" sz="2400" b="1" dirty="0"/>
              <a:t>请求连接</a:t>
            </a:r>
            <a:endParaRPr lang="en-US" altLang="zh-CN" sz="2400" b="1" dirty="0"/>
          </a:p>
          <a:p>
            <a:pPr marL="342900" indent="-342900">
              <a:lnSpc>
                <a:spcPct val="150000"/>
              </a:lnSpc>
              <a:buFont typeface="+mj-lt"/>
              <a:buAutoNum type="arabicPeriod"/>
            </a:pPr>
            <a:r>
              <a:rPr lang="zh-CN" altLang="en-US" sz="2400" b="1" dirty="0"/>
              <a:t>服务器接收请求客户端</a:t>
            </a:r>
            <a:r>
              <a:rPr lang="en-US" altLang="zh-CN" sz="2400" b="1" dirty="0"/>
              <a:t>2</a:t>
            </a:r>
            <a:r>
              <a:rPr lang="zh-CN" altLang="en-US" sz="2400" b="1" dirty="0"/>
              <a:t>请求，并且给客户端</a:t>
            </a:r>
            <a:r>
              <a:rPr lang="en-US" altLang="zh-CN" sz="2400" b="1" dirty="0"/>
              <a:t>2</a:t>
            </a:r>
            <a:r>
              <a:rPr lang="zh-CN" altLang="en-US" sz="2400" b="1" dirty="0"/>
              <a:t>分配</a:t>
            </a:r>
            <a:r>
              <a:rPr lang="en-US" altLang="zh-CN" sz="2400" b="1" dirty="0"/>
              <a:t>ID2</a:t>
            </a:r>
          </a:p>
          <a:p>
            <a:pPr marL="342900" indent="-342900">
              <a:lnSpc>
                <a:spcPct val="150000"/>
              </a:lnSpc>
              <a:buFont typeface="+mj-lt"/>
              <a:buAutoNum type="arabicPeriod"/>
            </a:pPr>
            <a:r>
              <a:rPr lang="zh-CN" altLang="en-US" sz="2400" b="1" dirty="0"/>
              <a:t>客户端</a:t>
            </a:r>
            <a:r>
              <a:rPr lang="en-US" altLang="zh-CN" sz="2400" b="1" dirty="0"/>
              <a:t>2</a:t>
            </a:r>
            <a:r>
              <a:rPr lang="zh-CN" altLang="en-US" sz="2400" b="1" dirty="0"/>
              <a:t>记录被分配的</a:t>
            </a:r>
            <a:r>
              <a:rPr lang="en-US" altLang="zh-CN" sz="2400" b="1" dirty="0"/>
              <a:t>ID2</a:t>
            </a:r>
            <a:r>
              <a:rPr lang="zh-CN" altLang="en-US" sz="2400" b="1" dirty="0"/>
              <a:t>以后每次发送数据会带</a:t>
            </a:r>
            <a:r>
              <a:rPr lang="en-US" altLang="zh-CN" sz="2400" b="1" dirty="0"/>
              <a:t>ID2</a:t>
            </a:r>
          </a:p>
          <a:p>
            <a:pPr marL="342900" indent="-342900">
              <a:lnSpc>
                <a:spcPct val="150000"/>
              </a:lnSpc>
              <a:buFont typeface="+mj-lt"/>
              <a:buAutoNum type="arabicPeriod"/>
            </a:pPr>
            <a:r>
              <a:rPr lang="zh-CN" altLang="en-US" sz="2400" b="1" dirty="0"/>
              <a:t>依此类推</a:t>
            </a:r>
            <a:endParaRPr lang="en-US" altLang="zh-CN" sz="2400" b="1" dirty="0"/>
          </a:p>
          <a:p>
            <a:pPr marL="342900" indent="-342900">
              <a:lnSpc>
                <a:spcPct val="150000"/>
              </a:lnSpc>
              <a:buFont typeface="+mj-lt"/>
              <a:buAutoNum type="arabicPeriod"/>
            </a:pPr>
            <a:endParaRPr lang="en-US" altLang="zh-CN" sz="2400" b="1" dirty="0"/>
          </a:p>
          <a:p>
            <a:pPr>
              <a:lnSpc>
                <a:spcPct val="150000"/>
              </a:lnSpc>
            </a:pPr>
            <a:endParaRPr lang="zh-CN" altLang="en-US" sz="2400" dirty="0"/>
          </a:p>
        </p:txBody>
      </p:sp>
      <p:sp>
        <p:nvSpPr>
          <p:cNvPr id="4" name="矩形 3"/>
          <p:cNvSpPr/>
          <p:nvPr/>
        </p:nvSpPr>
        <p:spPr>
          <a:xfrm>
            <a:off x="8943564" y="1851783"/>
            <a:ext cx="1124793" cy="671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server</a:t>
            </a:r>
            <a:endParaRPr lang="zh-CN" altLang="en-US" sz="2400" dirty="0"/>
          </a:p>
        </p:txBody>
      </p:sp>
      <p:sp>
        <p:nvSpPr>
          <p:cNvPr id="5" name="矩形 4"/>
          <p:cNvSpPr/>
          <p:nvPr/>
        </p:nvSpPr>
        <p:spPr>
          <a:xfrm>
            <a:off x="10733252" y="1350133"/>
            <a:ext cx="1124793" cy="671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client2</a:t>
            </a:r>
            <a:endParaRPr lang="zh-CN" altLang="en-US" sz="2400" dirty="0"/>
          </a:p>
        </p:txBody>
      </p:sp>
      <p:sp>
        <p:nvSpPr>
          <p:cNvPr id="6" name="矩形 5"/>
          <p:cNvSpPr/>
          <p:nvPr/>
        </p:nvSpPr>
        <p:spPr>
          <a:xfrm>
            <a:off x="10733253" y="2319830"/>
            <a:ext cx="1124793" cy="671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client3</a:t>
            </a:r>
            <a:endParaRPr lang="zh-CN" altLang="en-US" sz="2400" dirty="0"/>
          </a:p>
        </p:txBody>
      </p:sp>
      <p:sp>
        <p:nvSpPr>
          <p:cNvPr id="7" name="矩形 6"/>
          <p:cNvSpPr/>
          <p:nvPr/>
        </p:nvSpPr>
        <p:spPr>
          <a:xfrm>
            <a:off x="10733253" y="380436"/>
            <a:ext cx="1124793" cy="671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client1</a:t>
            </a:r>
            <a:endParaRPr lang="zh-CN" altLang="en-US" sz="2400" dirty="0"/>
          </a:p>
        </p:txBody>
      </p:sp>
      <p:cxnSp>
        <p:nvCxnSpPr>
          <p:cNvPr id="9" name="直接连接符 8"/>
          <p:cNvCxnSpPr>
            <a:stCxn id="4" idx="3"/>
            <a:endCxn id="7" idx="1"/>
          </p:cNvCxnSpPr>
          <p:nvPr/>
        </p:nvCxnSpPr>
        <p:spPr>
          <a:xfrm flipV="1">
            <a:off x="10068357" y="716256"/>
            <a:ext cx="664896" cy="1471347"/>
          </a:xfrm>
          <a:prstGeom prst="line">
            <a:avLst/>
          </a:prstGeom>
          <a:ln w="254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4" idx="3"/>
            <a:endCxn id="5" idx="1"/>
          </p:cNvCxnSpPr>
          <p:nvPr/>
        </p:nvCxnSpPr>
        <p:spPr>
          <a:xfrm flipV="1">
            <a:off x="10068357" y="1685953"/>
            <a:ext cx="664895" cy="501650"/>
          </a:xfrm>
          <a:prstGeom prst="line">
            <a:avLst/>
          </a:prstGeom>
          <a:ln w="254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4" idx="3"/>
            <a:endCxn id="6" idx="1"/>
          </p:cNvCxnSpPr>
          <p:nvPr/>
        </p:nvCxnSpPr>
        <p:spPr>
          <a:xfrm>
            <a:off x="10068357" y="2187603"/>
            <a:ext cx="664896" cy="468047"/>
          </a:xfrm>
          <a:prstGeom prst="line">
            <a:avLst/>
          </a:prstGeom>
          <a:ln w="25400">
            <a:headEnd type="arrow"/>
            <a:tailEnd type="arrow"/>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0733251" y="3289527"/>
            <a:ext cx="1124793" cy="671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err="1"/>
              <a:t>clientN</a:t>
            </a:r>
            <a:endParaRPr lang="zh-CN" altLang="en-US" sz="2400" dirty="0"/>
          </a:p>
        </p:txBody>
      </p:sp>
      <p:cxnSp>
        <p:nvCxnSpPr>
          <p:cNvPr id="2" name="直接连接符 1">
            <a:extLst>
              <a:ext uri="{FF2B5EF4-FFF2-40B4-BE49-F238E27FC236}">
                <a16:creationId xmlns:a16="http://schemas.microsoft.com/office/drawing/2014/main" id="{1906B954-2BC1-FC1B-6E6F-72925CBB323C}"/>
              </a:ext>
            </a:extLst>
          </p:cNvPr>
          <p:cNvCxnSpPr>
            <a:cxnSpLocks/>
            <a:stCxn id="4" idx="3"/>
            <a:endCxn id="21" idx="1"/>
          </p:cNvCxnSpPr>
          <p:nvPr/>
        </p:nvCxnSpPr>
        <p:spPr>
          <a:xfrm>
            <a:off x="10068357" y="2187603"/>
            <a:ext cx="664894" cy="1437744"/>
          </a:xfrm>
          <a:prstGeom prst="line">
            <a:avLst/>
          </a:prstGeom>
          <a:ln w="25400">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099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48DFC1B-D40B-5B23-DB55-6885CD323AEA}"/>
              </a:ext>
            </a:extLst>
          </p:cNvPr>
          <p:cNvSpPr>
            <a:spLocks noGrp="1"/>
          </p:cNvSpPr>
          <p:nvPr>
            <p:ph idx="1"/>
          </p:nvPr>
        </p:nvSpPr>
        <p:spPr>
          <a:xfrm>
            <a:off x="292100" y="381000"/>
            <a:ext cx="11430000" cy="5795963"/>
          </a:xfrm>
        </p:spPr>
        <p:txBody>
          <a:bodyPr>
            <a:normAutofit fontScale="70000" lnSpcReduction="20000"/>
          </a:bodyPr>
          <a:lstStyle/>
          <a:p>
            <a:pPr marL="0" indent="0">
              <a:lnSpc>
                <a:spcPct val="150000"/>
              </a:lnSpc>
              <a:buNone/>
            </a:pPr>
            <a:r>
              <a:rPr lang="zh-CN" altLang="en-US" b="1" dirty="0"/>
              <a:t>运行后：</a:t>
            </a:r>
            <a:endParaRPr lang="en-US" altLang="zh-CN" b="1" dirty="0"/>
          </a:p>
          <a:p>
            <a:pPr marL="342900" indent="-342900">
              <a:lnSpc>
                <a:spcPct val="150000"/>
              </a:lnSpc>
              <a:buFont typeface="+mj-lt"/>
              <a:buAutoNum type="arabicPeriod"/>
            </a:pPr>
            <a:r>
              <a:rPr lang="zh-CN" altLang="en-US" b="1" dirty="0"/>
              <a:t>服务器会把所有客户端发过来自己队伍里所有单位的数据存放到对应的</a:t>
            </a:r>
            <a:r>
              <a:rPr lang="en-US" altLang="zh-CN" b="1" dirty="0"/>
              <a:t>Team</a:t>
            </a:r>
            <a:r>
              <a:rPr lang="zh-CN" altLang="en-US" b="1" dirty="0"/>
              <a:t>去，本地也会保存一份，并且显示在界面上。</a:t>
            </a:r>
            <a:endParaRPr lang="en-US" altLang="zh-CN" b="1" dirty="0"/>
          </a:p>
          <a:p>
            <a:pPr marL="342900" indent="-342900">
              <a:lnSpc>
                <a:spcPct val="150000"/>
              </a:lnSpc>
              <a:buFont typeface="+mj-lt"/>
              <a:buAutoNum type="arabicPeriod"/>
            </a:pPr>
            <a:r>
              <a:rPr lang="zh-CN" altLang="en-US" b="1" dirty="0"/>
              <a:t>每个客户端每隔一定时间会把自己操作的信息打包发送给服务器端，是否有新建筑的建造，坦克是否有移动，坦克的当前血量、发送的子弹的伤害，当前坦克、子弹的位置信息，其他兵种以此类推等等</a:t>
            </a:r>
            <a:endParaRPr lang="en-US" altLang="zh-CN" b="1" dirty="0"/>
          </a:p>
          <a:p>
            <a:pPr marL="342900" indent="-342900">
              <a:lnSpc>
                <a:spcPct val="150000"/>
              </a:lnSpc>
              <a:buFont typeface="+mj-lt"/>
              <a:buAutoNum type="arabicPeriod"/>
            </a:pPr>
            <a:r>
              <a:rPr lang="zh-CN" altLang="en-US" b="1" dirty="0"/>
              <a:t>服务器和每个客户端只能控制自己队伍建筑、兵种等等的建造，及兵种的移动，如果达到攻击范围，会自动攻击，发出的子弹会自带伤害值</a:t>
            </a:r>
            <a:endParaRPr lang="en-US" altLang="zh-CN" b="1" dirty="0"/>
          </a:p>
          <a:p>
            <a:pPr marL="342900" indent="-342900">
              <a:lnSpc>
                <a:spcPct val="150000"/>
              </a:lnSpc>
              <a:buFont typeface="+mj-lt"/>
              <a:buAutoNum type="arabicPeriod"/>
            </a:pPr>
            <a:r>
              <a:rPr lang="zh-CN" altLang="en-US" b="1" dirty="0"/>
              <a:t>服务器会把所有子弹攻击如果达到伤害的范围计算后的数据打包发送给客户端</a:t>
            </a:r>
            <a:endParaRPr lang="en-US" altLang="zh-CN" b="1" dirty="0"/>
          </a:p>
          <a:p>
            <a:pPr marL="342900" indent="-342900">
              <a:lnSpc>
                <a:spcPct val="150000"/>
              </a:lnSpc>
              <a:buFont typeface="+mj-lt"/>
              <a:buAutoNum type="arabicPeriod"/>
            </a:pPr>
            <a:r>
              <a:rPr lang="zh-CN" altLang="en-US" b="1" dirty="0"/>
              <a:t>并且会把所有</a:t>
            </a:r>
            <a:r>
              <a:rPr lang="en-US" altLang="zh-CN" b="1" dirty="0"/>
              <a:t>Team</a:t>
            </a:r>
            <a:r>
              <a:rPr lang="zh-CN" altLang="en-US" b="1" dirty="0"/>
              <a:t>的数据打包发送给各个客户端</a:t>
            </a:r>
            <a:endParaRPr lang="en-US" altLang="zh-CN" b="1" dirty="0"/>
          </a:p>
          <a:p>
            <a:pPr marL="342900" indent="-342900">
              <a:lnSpc>
                <a:spcPct val="150000"/>
              </a:lnSpc>
              <a:buFont typeface="+mj-lt"/>
              <a:buAutoNum type="arabicPeriod"/>
            </a:pPr>
            <a:r>
              <a:rPr lang="zh-CN" altLang="en-US" b="1" dirty="0"/>
              <a:t>计算攻击伤害的时候只能在服务器计算，计算完成会写入子弹的属性，如果子弹击中其他单位，通过护甲计算真实伤害并且更新被攻击单位的血量。</a:t>
            </a:r>
            <a:endParaRPr lang="en-US" altLang="zh-CN" b="1" dirty="0"/>
          </a:p>
          <a:p>
            <a:endParaRPr lang="zh-CN" altLang="en-US" dirty="0"/>
          </a:p>
        </p:txBody>
      </p:sp>
    </p:spTree>
    <p:extLst>
      <p:ext uri="{BB962C8B-B14F-4D97-AF65-F5344CB8AC3E}">
        <p14:creationId xmlns:p14="http://schemas.microsoft.com/office/powerpoint/2010/main" val="379739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1454A7-6E6C-FD4B-E13E-389F4A8EA0A5}"/>
              </a:ext>
            </a:extLst>
          </p:cNvPr>
          <p:cNvSpPr>
            <a:spLocks noGrp="1"/>
          </p:cNvSpPr>
          <p:nvPr>
            <p:ph type="title"/>
          </p:nvPr>
        </p:nvSpPr>
        <p:spPr/>
        <p:txBody>
          <a:bodyPr/>
          <a:lstStyle/>
          <a:p>
            <a:r>
              <a:rPr lang="zh-CN" altLang="en-US" b="1" dirty="0"/>
              <a:t>客户端</a:t>
            </a:r>
            <a:endParaRPr lang="zh-CN" altLang="en-US" dirty="0"/>
          </a:p>
        </p:txBody>
      </p:sp>
      <p:sp>
        <p:nvSpPr>
          <p:cNvPr id="3" name="内容占位符 2">
            <a:extLst>
              <a:ext uri="{FF2B5EF4-FFF2-40B4-BE49-F238E27FC236}">
                <a16:creationId xmlns:a16="http://schemas.microsoft.com/office/drawing/2014/main" id="{656E0F7A-EE1D-0805-5A57-BF404062793D}"/>
              </a:ext>
            </a:extLst>
          </p:cNvPr>
          <p:cNvSpPr>
            <a:spLocks noGrp="1"/>
          </p:cNvSpPr>
          <p:nvPr>
            <p:ph idx="1"/>
          </p:nvPr>
        </p:nvSpPr>
        <p:spPr/>
        <p:txBody>
          <a:bodyPr>
            <a:normAutofit fontScale="77500" lnSpcReduction="20000"/>
          </a:bodyPr>
          <a:lstStyle/>
          <a:p>
            <a:pPr marL="342900" indent="-342900">
              <a:lnSpc>
                <a:spcPct val="160000"/>
              </a:lnSpc>
              <a:spcBef>
                <a:spcPts val="0"/>
              </a:spcBef>
              <a:buFont typeface="+mj-lt"/>
              <a:buAutoNum type="arabicPeriod"/>
            </a:pPr>
            <a:r>
              <a:rPr lang="zh-CN" altLang="en-US" b="1" dirty="0">
                <a:solidFill>
                  <a:srgbClr val="FF0000"/>
                </a:solidFill>
              </a:rPr>
              <a:t>创建自己队伍的建筑、单位</a:t>
            </a:r>
            <a:r>
              <a:rPr lang="zh-CN" altLang="en-US" b="1" dirty="0"/>
              <a:t>，比如：建筑，兵种，坦克，船支等等。</a:t>
            </a:r>
            <a:endParaRPr lang="en-US" altLang="zh-CN" b="1" dirty="0"/>
          </a:p>
          <a:p>
            <a:pPr marL="342900" indent="-342900">
              <a:lnSpc>
                <a:spcPct val="160000"/>
              </a:lnSpc>
              <a:spcBef>
                <a:spcPts val="0"/>
              </a:spcBef>
              <a:buFont typeface="+mj-lt"/>
              <a:buAutoNum type="arabicPeriod"/>
            </a:pPr>
            <a:r>
              <a:rPr lang="zh-CN" altLang="en-US" b="1" dirty="0">
                <a:solidFill>
                  <a:srgbClr val="FF0000"/>
                </a:solidFill>
              </a:rPr>
              <a:t>移动自己队伍的单位</a:t>
            </a:r>
            <a:r>
              <a:rPr lang="zh-CN" altLang="en-US" b="1" dirty="0"/>
              <a:t>，比如：兵种，坦克，船支等等；不能移动其他队伍的单位。</a:t>
            </a:r>
            <a:endParaRPr lang="en-US" altLang="zh-CN" b="1" dirty="0"/>
          </a:p>
          <a:p>
            <a:pPr marL="342900" indent="-342900">
              <a:lnSpc>
                <a:spcPct val="160000"/>
              </a:lnSpc>
              <a:spcBef>
                <a:spcPts val="0"/>
              </a:spcBef>
              <a:buFont typeface="+mj-lt"/>
              <a:buAutoNum type="arabicPeriod"/>
            </a:pPr>
            <a:r>
              <a:rPr lang="zh-CN" altLang="en-US" b="1" dirty="0"/>
              <a:t>把</a:t>
            </a:r>
            <a:r>
              <a:rPr lang="zh-CN" altLang="en-US" b="1" dirty="0">
                <a:solidFill>
                  <a:srgbClr val="FF0000"/>
                </a:solidFill>
              </a:rPr>
              <a:t>自己队伍</a:t>
            </a:r>
            <a:r>
              <a:rPr lang="zh-CN" altLang="en-US" b="1" dirty="0"/>
              <a:t>移动后的</a:t>
            </a:r>
            <a:r>
              <a:rPr lang="zh-CN" altLang="en-US" b="1" dirty="0">
                <a:solidFill>
                  <a:srgbClr val="FF0000"/>
                </a:solidFill>
              </a:rPr>
              <a:t>数据通过</a:t>
            </a:r>
            <a:r>
              <a:rPr lang="en-US" altLang="zh-CN" b="1" dirty="0">
                <a:solidFill>
                  <a:srgbClr val="FF0000"/>
                </a:solidFill>
              </a:rPr>
              <a:t>TCP</a:t>
            </a:r>
            <a:r>
              <a:rPr lang="zh-CN" altLang="en-US" b="1" dirty="0">
                <a:solidFill>
                  <a:srgbClr val="FF0000"/>
                </a:solidFill>
              </a:rPr>
              <a:t>打包发送给服务器</a:t>
            </a:r>
            <a:r>
              <a:rPr lang="zh-CN" altLang="en-US" b="1" dirty="0"/>
              <a:t>端，因为有单位移动，不同队伍的单位可能会进入攻击范围。</a:t>
            </a:r>
            <a:endParaRPr lang="en-US" altLang="zh-CN" b="1" dirty="0"/>
          </a:p>
          <a:p>
            <a:pPr marL="342900" indent="-342900">
              <a:lnSpc>
                <a:spcPct val="160000"/>
              </a:lnSpc>
              <a:spcBef>
                <a:spcPts val="0"/>
              </a:spcBef>
              <a:buFont typeface="+mj-lt"/>
              <a:buAutoNum type="arabicPeriod"/>
            </a:pPr>
            <a:r>
              <a:rPr lang="zh-CN" altLang="en-US" b="1" dirty="0">
                <a:solidFill>
                  <a:srgbClr val="FF0000"/>
                </a:solidFill>
              </a:rPr>
              <a:t>通过</a:t>
            </a:r>
            <a:r>
              <a:rPr lang="en-US" altLang="zh-CN" b="1" dirty="0">
                <a:solidFill>
                  <a:srgbClr val="FF0000"/>
                </a:solidFill>
              </a:rPr>
              <a:t>TCP</a:t>
            </a:r>
            <a:r>
              <a:rPr lang="zh-CN" altLang="en-US" b="1" dirty="0">
                <a:solidFill>
                  <a:srgbClr val="FF0000"/>
                </a:solidFill>
              </a:rPr>
              <a:t>从服务器端接收发送过来的各个队伍所有单位打包的数据</a:t>
            </a:r>
            <a:r>
              <a:rPr lang="zh-CN" altLang="en-US" b="1" dirty="0"/>
              <a:t>存放到本地各个队伍，包含服务器和其他客户端的数据展示给玩家。</a:t>
            </a:r>
            <a:endParaRPr lang="en-US" altLang="zh-CN" b="1" dirty="0"/>
          </a:p>
          <a:p>
            <a:pPr marL="342900" indent="-342900">
              <a:lnSpc>
                <a:spcPct val="160000"/>
              </a:lnSpc>
              <a:spcBef>
                <a:spcPts val="0"/>
              </a:spcBef>
              <a:buFont typeface="+mj-lt"/>
              <a:buAutoNum type="arabicPeriod"/>
            </a:pPr>
            <a:r>
              <a:rPr lang="zh-CN" altLang="en-US" b="1" dirty="0"/>
              <a:t>玩家可以</a:t>
            </a:r>
            <a:r>
              <a:rPr lang="zh-CN" altLang="en-US" b="1" dirty="0">
                <a:solidFill>
                  <a:srgbClr val="FF0000"/>
                </a:solidFill>
              </a:rPr>
              <a:t>看到自己队伍和其他其他队伍所有单位</a:t>
            </a:r>
            <a:r>
              <a:rPr lang="zh-CN" altLang="en-US" b="1" dirty="0"/>
              <a:t>，这样可以</a:t>
            </a:r>
            <a:r>
              <a:rPr lang="zh-CN" altLang="en-US" b="1" dirty="0">
                <a:solidFill>
                  <a:srgbClr val="FF0000"/>
                </a:solidFill>
              </a:rPr>
              <a:t>控制自己队伍单位移动</a:t>
            </a:r>
            <a:r>
              <a:rPr lang="zh-CN" altLang="en-US" b="1" dirty="0"/>
              <a:t>，对其他单位进行攻击。</a:t>
            </a:r>
            <a:endParaRPr lang="en-US" altLang="zh-CN" b="1" dirty="0"/>
          </a:p>
          <a:p>
            <a:pPr marL="342900" indent="-342900">
              <a:lnSpc>
                <a:spcPct val="160000"/>
              </a:lnSpc>
              <a:spcBef>
                <a:spcPts val="0"/>
              </a:spcBef>
              <a:buFont typeface="+mj-lt"/>
              <a:buAutoNum type="arabicPeriod"/>
            </a:pPr>
            <a:endParaRPr lang="en-US" altLang="zh-CN" b="1" dirty="0"/>
          </a:p>
          <a:p>
            <a:pPr marL="342900" indent="-342900">
              <a:lnSpc>
                <a:spcPct val="160000"/>
              </a:lnSpc>
              <a:spcBef>
                <a:spcPts val="0"/>
              </a:spcBef>
              <a:buFont typeface="+mj-lt"/>
              <a:buAutoNum type="arabicPeriod"/>
            </a:pPr>
            <a:endParaRPr lang="en-US" altLang="zh-CN" b="1" dirty="0"/>
          </a:p>
          <a:p>
            <a:pPr>
              <a:lnSpc>
                <a:spcPct val="160000"/>
              </a:lnSpc>
              <a:spcBef>
                <a:spcPts val="0"/>
              </a:spcBef>
            </a:pPr>
            <a:endParaRPr lang="zh-CN" altLang="en-US" dirty="0"/>
          </a:p>
        </p:txBody>
      </p:sp>
    </p:spTree>
    <p:extLst>
      <p:ext uri="{BB962C8B-B14F-4D97-AF65-F5344CB8AC3E}">
        <p14:creationId xmlns:p14="http://schemas.microsoft.com/office/powerpoint/2010/main" val="2782709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2676CA-CC1C-5821-7D3D-91A0A565C2AF}"/>
              </a:ext>
            </a:extLst>
          </p:cNvPr>
          <p:cNvSpPr>
            <a:spLocks noGrp="1"/>
          </p:cNvSpPr>
          <p:nvPr>
            <p:ph type="title"/>
          </p:nvPr>
        </p:nvSpPr>
        <p:spPr/>
        <p:txBody>
          <a:bodyPr/>
          <a:lstStyle/>
          <a:p>
            <a:r>
              <a:rPr lang="zh-CN" altLang="en-US" dirty="0"/>
              <a:t>服务器端</a:t>
            </a:r>
            <a:r>
              <a:rPr lang="en-US" altLang="zh-CN" dirty="0"/>
              <a:t>	</a:t>
            </a:r>
            <a:endParaRPr lang="zh-CN" altLang="en-US" dirty="0"/>
          </a:p>
        </p:txBody>
      </p:sp>
      <p:sp>
        <p:nvSpPr>
          <p:cNvPr id="3" name="内容占位符 2">
            <a:extLst>
              <a:ext uri="{FF2B5EF4-FFF2-40B4-BE49-F238E27FC236}">
                <a16:creationId xmlns:a16="http://schemas.microsoft.com/office/drawing/2014/main" id="{1C00EAB2-2759-8E76-CC20-86534E53F1DF}"/>
              </a:ext>
            </a:extLst>
          </p:cNvPr>
          <p:cNvSpPr>
            <a:spLocks noGrp="1"/>
          </p:cNvSpPr>
          <p:nvPr>
            <p:ph idx="1"/>
          </p:nvPr>
        </p:nvSpPr>
        <p:spPr>
          <a:xfrm>
            <a:off x="838200" y="1492250"/>
            <a:ext cx="10515600" cy="4684713"/>
          </a:xfrm>
        </p:spPr>
        <p:txBody>
          <a:bodyPr>
            <a:normAutofit fontScale="62500" lnSpcReduction="20000"/>
          </a:bodyPr>
          <a:lstStyle/>
          <a:p>
            <a:pPr>
              <a:lnSpc>
                <a:spcPct val="150000"/>
              </a:lnSpc>
              <a:spcBef>
                <a:spcPts val="0"/>
              </a:spcBef>
            </a:pPr>
            <a:r>
              <a:rPr lang="zh-CN" altLang="en-US" dirty="0"/>
              <a:t>服务器端</a:t>
            </a:r>
            <a:r>
              <a:rPr lang="zh-CN" altLang="en-US" dirty="0">
                <a:solidFill>
                  <a:srgbClr val="FF0000"/>
                </a:solidFill>
              </a:rPr>
              <a:t>本身也是一个队伍</a:t>
            </a:r>
            <a:endParaRPr lang="en-US" altLang="zh-CN" dirty="0">
              <a:solidFill>
                <a:srgbClr val="FF0000"/>
              </a:solidFill>
            </a:endParaRPr>
          </a:p>
          <a:p>
            <a:pPr>
              <a:lnSpc>
                <a:spcPct val="150000"/>
              </a:lnSpc>
              <a:spcBef>
                <a:spcPts val="0"/>
              </a:spcBef>
            </a:pPr>
            <a:r>
              <a:rPr lang="zh-CN" altLang="en-US" dirty="0"/>
              <a:t>通过</a:t>
            </a:r>
            <a:r>
              <a:rPr lang="en-US" altLang="zh-CN" dirty="0"/>
              <a:t>TCP</a:t>
            </a:r>
            <a:r>
              <a:rPr lang="zh-CN" altLang="en-US" dirty="0">
                <a:solidFill>
                  <a:srgbClr val="FF0000"/>
                </a:solidFill>
              </a:rPr>
              <a:t>接收所有客户端发送过来自己对伍所有单位打包的数据</a:t>
            </a:r>
            <a:endParaRPr lang="en-US" altLang="zh-CN" dirty="0">
              <a:solidFill>
                <a:srgbClr val="FF0000"/>
              </a:solidFill>
            </a:endParaRPr>
          </a:p>
          <a:p>
            <a:pPr>
              <a:lnSpc>
                <a:spcPct val="150000"/>
              </a:lnSpc>
              <a:spcBef>
                <a:spcPts val="0"/>
              </a:spcBef>
            </a:pPr>
            <a:r>
              <a:rPr lang="zh-CN" altLang="en-US" dirty="0">
                <a:solidFill>
                  <a:srgbClr val="FF0000"/>
                </a:solidFill>
              </a:rPr>
              <a:t>其实要把客户端发过来的数据跟原来发过来的单位进行</a:t>
            </a:r>
            <a:r>
              <a:rPr lang="en-US" altLang="zh-CN" dirty="0">
                <a:solidFill>
                  <a:srgbClr val="FF0000"/>
                </a:solidFill>
              </a:rPr>
              <a:t>ID</a:t>
            </a:r>
            <a:r>
              <a:rPr lang="zh-CN" altLang="en-US" dirty="0">
                <a:solidFill>
                  <a:srgbClr val="FF0000"/>
                </a:solidFill>
              </a:rPr>
              <a:t>比对，因为服务器端要记录上一次攻击的时间，而客户端可以不记录这类数据。</a:t>
            </a:r>
            <a:endParaRPr lang="en-US" altLang="zh-CN" dirty="0">
              <a:solidFill>
                <a:srgbClr val="FF0000"/>
              </a:solidFill>
            </a:endParaRPr>
          </a:p>
          <a:p>
            <a:pPr>
              <a:lnSpc>
                <a:spcPct val="150000"/>
              </a:lnSpc>
              <a:spcBef>
                <a:spcPts val="0"/>
              </a:spcBef>
            </a:pPr>
            <a:r>
              <a:rPr lang="zh-CN" altLang="en-US" dirty="0"/>
              <a:t>跟据不同队伍所有单位的位置，可以</a:t>
            </a:r>
            <a:r>
              <a:rPr lang="zh-CN" altLang="en-US" dirty="0">
                <a:solidFill>
                  <a:srgbClr val="FF0000"/>
                </a:solidFill>
              </a:rPr>
              <a:t>计算单位之间直线距离</a:t>
            </a:r>
            <a:r>
              <a:rPr lang="zh-CN" altLang="en-US" dirty="0"/>
              <a:t>，再基于单位的</a:t>
            </a:r>
            <a:r>
              <a:rPr lang="zh-CN" altLang="en-US" dirty="0">
                <a:solidFill>
                  <a:srgbClr val="FF0000"/>
                </a:solidFill>
              </a:rPr>
              <a:t>攻击距离</a:t>
            </a:r>
            <a:r>
              <a:rPr lang="zh-CN" altLang="en-US" dirty="0"/>
              <a:t>计算是否需要</a:t>
            </a:r>
            <a:r>
              <a:rPr lang="zh-CN" altLang="en-US" dirty="0">
                <a:solidFill>
                  <a:srgbClr val="FF0000"/>
                </a:solidFill>
              </a:rPr>
              <a:t>发射子弹</a:t>
            </a:r>
            <a:r>
              <a:rPr lang="zh-CN" altLang="en-US" dirty="0"/>
              <a:t>，不同队伍发射的子弹与队伍颜色一致，其实这步有一定难度，因为每个队伍有很多建筑，同一种建筑可能有很多个，有很多兵种，同一个兵种有很多兵，坦克单位，空中单位也是一样的。</a:t>
            </a:r>
            <a:endParaRPr lang="en-US" altLang="zh-CN" dirty="0"/>
          </a:p>
          <a:p>
            <a:pPr>
              <a:lnSpc>
                <a:spcPct val="150000"/>
              </a:lnSpc>
              <a:spcBef>
                <a:spcPts val="0"/>
              </a:spcBef>
            </a:pPr>
            <a:r>
              <a:rPr lang="zh-CN" altLang="en-US" dirty="0"/>
              <a:t>如果在攻击范围，发射子弹后</a:t>
            </a:r>
            <a:r>
              <a:rPr lang="zh-CN" altLang="en-US" dirty="0">
                <a:solidFill>
                  <a:srgbClr val="FF0000"/>
                </a:solidFill>
              </a:rPr>
              <a:t>会记录单位上一次攻击的时间</a:t>
            </a:r>
            <a:r>
              <a:rPr lang="zh-CN" altLang="en-US" dirty="0"/>
              <a:t>，因为攻击有</a:t>
            </a:r>
            <a:r>
              <a:rPr lang="en-US" altLang="zh-CN" dirty="0"/>
              <a:t>CD</a:t>
            </a:r>
            <a:r>
              <a:rPr lang="zh-CN" altLang="en-US" dirty="0"/>
              <a:t>，</a:t>
            </a:r>
            <a:r>
              <a:rPr lang="en-US" altLang="zh-CN" dirty="0"/>
              <a:t>CD</a:t>
            </a:r>
            <a:r>
              <a:rPr lang="zh-CN" altLang="en-US" dirty="0"/>
              <a:t>到了再进行下一次攻击，为了</a:t>
            </a:r>
            <a:r>
              <a:rPr lang="zh-CN" altLang="en-US" dirty="0">
                <a:solidFill>
                  <a:srgbClr val="FF0000"/>
                </a:solidFill>
              </a:rPr>
              <a:t>防止所有同类型单位攻击</a:t>
            </a:r>
            <a:r>
              <a:rPr lang="en-US" altLang="zh-CN" dirty="0">
                <a:solidFill>
                  <a:srgbClr val="FF0000"/>
                </a:solidFill>
              </a:rPr>
              <a:t>CD</a:t>
            </a:r>
            <a:r>
              <a:rPr lang="zh-CN" altLang="en-US" dirty="0">
                <a:solidFill>
                  <a:srgbClr val="FF0000"/>
                </a:solidFill>
              </a:rPr>
              <a:t>一模一样</a:t>
            </a:r>
            <a:r>
              <a:rPr lang="zh-CN" altLang="en-US" dirty="0"/>
              <a:t>，会加少量</a:t>
            </a:r>
            <a:r>
              <a:rPr lang="en-US" altLang="zh-CN" dirty="0"/>
              <a:t>CD</a:t>
            </a:r>
            <a:r>
              <a:rPr lang="zh-CN" altLang="en-US" dirty="0"/>
              <a:t>浮动，这样看起来理加真实，攻击力也是这样的，攻击力是一个范围，通过随机计算攻击力。</a:t>
            </a:r>
            <a:endParaRPr lang="en-US" altLang="zh-CN" dirty="0"/>
          </a:p>
          <a:p>
            <a:pPr>
              <a:lnSpc>
                <a:spcPct val="150000"/>
              </a:lnSpc>
              <a:spcBef>
                <a:spcPts val="0"/>
              </a:spcBef>
            </a:pPr>
            <a:r>
              <a:rPr lang="zh-CN" altLang="en-US" dirty="0">
                <a:solidFill>
                  <a:srgbClr val="FF0000"/>
                </a:solidFill>
              </a:rPr>
              <a:t>攻击力计算，单位上次攻击时间</a:t>
            </a:r>
            <a:r>
              <a:rPr lang="en-US" altLang="zh-CN" dirty="0">
                <a:solidFill>
                  <a:srgbClr val="FF0000"/>
                </a:solidFill>
              </a:rPr>
              <a:t>CD</a:t>
            </a:r>
            <a:r>
              <a:rPr lang="zh-CN" altLang="en-US" dirty="0">
                <a:solidFill>
                  <a:srgbClr val="FF0000"/>
                </a:solidFill>
              </a:rPr>
              <a:t>，子弹发射，击中单位伤害计算都是在服务器端计算</a:t>
            </a:r>
            <a:endParaRPr lang="en-US" altLang="zh-CN" dirty="0">
              <a:solidFill>
                <a:srgbClr val="FF0000"/>
              </a:solidFill>
            </a:endParaRPr>
          </a:p>
          <a:p>
            <a:pPr>
              <a:lnSpc>
                <a:spcPct val="150000"/>
              </a:lnSpc>
              <a:spcBef>
                <a:spcPts val="0"/>
              </a:spcBef>
            </a:pPr>
            <a:r>
              <a:rPr lang="zh-CN" altLang="en-US" dirty="0">
                <a:solidFill>
                  <a:srgbClr val="FF0000"/>
                </a:solidFill>
              </a:rPr>
              <a:t>把计算后的结果发送给所有客户端。</a:t>
            </a:r>
          </a:p>
        </p:txBody>
      </p:sp>
    </p:spTree>
    <p:extLst>
      <p:ext uri="{BB962C8B-B14F-4D97-AF65-F5344CB8AC3E}">
        <p14:creationId xmlns:p14="http://schemas.microsoft.com/office/powerpoint/2010/main" val="3136069989"/>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664</Words>
  <Application>Microsoft Office PowerPoint</Application>
  <PresentationFormat>宽屏</PresentationFormat>
  <Paragraphs>36</Paragraphs>
  <Slides>4</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4</vt:i4>
      </vt:variant>
    </vt:vector>
  </HeadingPairs>
  <TitlesOfParts>
    <vt:vector size="7" baseType="lpstr">
      <vt:lpstr>Arial</vt:lpstr>
      <vt:lpstr>Calibri</vt:lpstr>
      <vt:lpstr>WPS</vt:lpstr>
      <vt:lpstr>PowerPoint 演示文稿</vt:lpstr>
      <vt:lpstr>PowerPoint 演示文稿</vt:lpstr>
      <vt:lpstr>客户端</vt:lpstr>
      <vt:lpstr>服务器端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qihong ren</cp:lastModifiedBy>
  <cp:revision>42</cp:revision>
  <dcterms:created xsi:type="dcterms:W3CDTF">2023-08-09T12:44:55Z</dcterms:created>
  <dcterms:modified xsi:type="dcterms:W3CDTF">2025-12-06T06:37:43Z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2052-12.1.0.15259</vt:lpwstr>
  </property>
</Properties>
</file>